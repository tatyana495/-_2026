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high_resolution_abstract_science_techn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9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6692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ChemAI Predict the 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40280"/>
            <a:ext cx="52120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0">
                <a:solidFill>
                  <a:srgbClr val="DDEFF7"/>
                </a:solidFill>
              </a:defRPr>
            </a:pPr>
            <a:r>
              <a:t>ML-пайплайн для предсказания активности химических соединений против вируса гриппа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897880"/>
            <a:ext cx="5303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B4D8E7"/>
                </a:solidFill>
              </a:defRPr>
            </a:pPr>
            <a:r>
              <a:t>IC50 · CC50 · SI  |  weighted blend + Ridge stacking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B2239"/>
                </a:solidFill>
              </a:defRPr>
            </a:pPr>
            <a:r>
              <a:t>1. Задача 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6492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202730"/>
                </a:solidFill>
              </a:defRPr>
            </a:pPr>
            <a:r>
              <a:t>Цель — предсказать биологическую активность новых молекул по числовым молекулярным дескрипторам.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A7B8"/>
                </a:solidFill>
              </a:defRPr>
            </a:pPr>
            <a:r>
              <a:t>751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1" y="2624327"/>
            <a:ext cx="18653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F80"/>
                </a:solidFill>
              </a:defRPr>
            </a:pPr>
            <a:r>
              <a:t>объект в train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74519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0574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471A3"/>
                </a:solidFill>
              </a:defRPr>
            </a:pPr>
            <a:r>
              <a:t>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2" y="2624327"/>
            <a:ext cx="18653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F80"/>
                </a:solidFill>
              </a:defRPr>
            </a:pPr>
            <a:r>
              <a:t>объектов в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874519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BC9C"/>
                </a:solidFill>
              </a:defRPr>
            </a:pPr>
            <a:r>
              <a:t>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2624327"/>
            <a:ext cx="18653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F80"/>
                </a:solidFill>
              </a:defRPr>
            </a:pPr>
            <a:r>
              <a:t>признаков в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874519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0574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A623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2624327"/>
            <a:ext cx="18653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F80"/>
                </a:solidFill>
              </a:defRPr>
            </a:pPr>
            <a:r>
              <a:t>целевые переменные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03320"/>
            <a:ext cx="73152" cy="1463040"/>
          </a:xfrm>
          <a:prstGeom prst="rect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867911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IC50,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33672"/>
            <a:ext cx="3063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Концентрация, при которой вещество подавляет 50% активности вируса.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03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703320"/>
            <a:ext cx="73152" cy="146304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867911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CC50,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233672"/>
            <a:ext cx="3063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Концентрация, при которой вещество токсично для 50% клеток.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703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3703320"/>
            <a:ext cx="73152" cy="1463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3867911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233672"/>
            <a:ext cx="3063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Индекс селективности; связан с IC50/CC50, но предсказывается отдельно.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606F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B2239"/>
                </a:solidFill>
              </a:defRPr>
            </a:pPr>
            <a:r>
              <a:t>2. EDA: распределения и хвосты</a:t>
            </a:r>
          </a:p>
        </p:txBody>
      </p:sp>
      <p:pic>
        <p:nvPicPr>
          <p:cNvPr id="3" name="Picture 2" descr="skew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669280" cy="3108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20840" y="1097280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73152" cy="1143000"/>
          </a:xfrm>
          <a:prstGeom prst="rect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22007" y="1261872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Главное наблюдение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2007" y="1627631"/>
            <a:ext cx="4343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Целевые переменные имеют правые хвосты. SI особенно скошен: skewness ≈ 15.63.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487168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2487168"/>
            <a:ext cx="73152" cy="11430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7" y="2651760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Почему log1p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3017520"/>
            <a:ext cx="4343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log1p сжимает экстремальные значения и стабилизирует обучение моделей.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877056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3877056"/>
            <a:ext cx="73152" cy="1234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7" y="4041648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Выбросы не удаляем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7" y="4407408"/>
            <a:ext cx="4343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Редкие молекулы могут быть химически важными, поэтому используем мягкий контроль хвостов.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789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606F80"/>
                </a:solidFill>
              </a:defRPr>
            </a:pPr>
            <a:r>
              <a:t>Пропуски редкие (до ~0.27% в признаках) и обрабатываются медианным imputer-ом.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606F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B2239"/>
                </a:solidFill>
              </a:defRPr>
            </a:pPr>
            <a:r>
              <a:t>3. Подготовка признаков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3152" cy="1188720"/>
          </a:xfrm>
          <a:prstGeom prst="rect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39903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Числовой формат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3154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Все признаки приводятся к числам: очистка пробелов, замена запятой на точку, coercion в NaN.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73152" cy="118872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39903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Пропуски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1764792"/>
            <a:ext cx="3154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NaN не удаляются; заполняются медианой признака внутри пайплайна.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73152" cy="1188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39903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Константные признаки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1764792"/>
            <a:ext cx="3154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Полностью константные признаки удаляются только по train, без использования test target.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7180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71800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13639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Редкие fr_*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502152"/>
            <a:ext cx="31546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Почти константные признаки оставлены: редкие функциональные группы могут нести сигнал.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97180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2971800"/>
            <a:ext cx="73152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313639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Нет утечки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3502152"/>
            <a:ext cx="31546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sample_submission используется только как шаблон; внешние данные не применяются.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97180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2971800"/>
            <a:ext cx="73152" cy="1280160"/>
          </a:xfrm>
          <a:prstGeom prst="rect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313639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Target transform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502152"/>
            <a:ext cx="31546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Модели обучаются на log1p(target), затем выполняется обратное expm1.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4241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0B2239"/>
                </a:solidFill>
              </a:defRPr>
            </a:pPr>
            <a:r>
              <a:t>Результат: компактный и воспроизводимый preprocessing без ручного вмешательства в submission.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606F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B2239"/>
                </a:solidFill>
              </a:defRPr>
            </a:pPr>
            <a:r>
              <a:t>4. Модельный пайплайн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331720"/>
            <a:ext cx="1508760" cy="1097280"/>
          </a:xfrm>
          <a:prstGeom prst="roundRect">
            <a:avLst/>
          </a:prstGeom>
          <a:solidFill>
            <a:srgbClr val="EEF7FA"/>
          </a:solidFill>
          <a:ln>
            <a:solidFill>
              <a:srgbClr val="00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239"/>
                </a:solidFill>
              </a:defRPr>
            </a:pPr>
            <a:r>
              <a:t>train/test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898648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06F80"/>
                </a:solidFill>
              </a:defRPr>
            </a:pPr>
            <a:r>
              <a:t>загрузка и EDA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47672" y="2724912"/>
            <a:ext cx="292608" cy="320040"/>
          </a:xfrm>
          <a:prstGeom prst="rightArrow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21408" y="2331720"/>
            <a:ext cx="1508760" cy="1097280"/>
          </a:xfrm>
          <a:prstGeom prst="roundRect">
            <a:avLst/>
          </a:prstGeom>
          <a:solidFill>
            <a:srgbClr val="F4F9F7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7127" y="251460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239"/>
                </a:solidFill>
              </a:defRPr>
            </a:pPr>
            <a: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898648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06F80"/>
                </a:solidFill>
              </a:defRPr>
            </a:pPr>
            <a:r>
              <a:t>preprocessing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11879" y="2724912"/>
            <a:ext cx="292608" cy="320040"/>
          </a:xfrm>
          <a:prstGeom prst="rightArrow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5" y="2331720"/>
            <a:ext cx="1508760" cy="1097280"/>
          </a:xfrm>
          <a:prstGeom prst="roundRect">
            <a:avLst/>
          </a:prstGeom>
          <a:solidFill>
            <a:srgbClr val="EEF7FA"/>
          </a:solidFill>
          <a:ln>
            <a:solidFill>
              <a:srgbClr val="00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5" y="251460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239"/>
                </a:solidFill>
              </a:defRPr>
            </a:pPr>
            <a: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898648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06F80"/>
                </a:solidFill>
              </a:defRPr>
            </a:pPr>
            <a:r>
              <a:t>10 моделей на target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76088" y="2724912"/>
            <a:ext cx="292608" cy="320040"/>
          </a:xfrm>
          <a:prstGeom prst="rightArrow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49823" y="2331720"/>
            <a:ext cx="1508760" cy="1097280"/>
          </a:xfrm>
          <a:prstGeom prst="roundRect">
            <a:avLst/>
          </a:prstGeom>
          <a:solidFill>
            <a:srgbClr val="F4F9F7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3" y="251460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239"/>
                </a:solidFill>
              </a:defRPr>
            </a:pPr>
            <a:r>
              <a:t>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5" y="2898648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06F80"/>
                </a:solidFill>
              </a:defRPr>
            </a:pPr>
            <a:r>
              <a:t>5-fold CV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40296" y="2724912"/>
            <a:ext cx="292608" cy="320040"/>
          </a:xfrm>
          <a:prstGeom prst="rightArrow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14031" y="2331720"/>
            <a:ext cx="1508760" cy="1097280"/>
          </a:xfrm>
          <a:prstGeom prst="roundRect">
            <a:avLst/>
          </a:prstGeom>
          <a:solidFill>
            <a:srgbClr val="EEF7FA"/>
          </a:solidFill>
          <a:ln>
            <a:solidFill>
              <a:srgbClr val="00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1" y="251460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239"/>
                </a:solidFill>
              </a:defRPr>
            </a:pPr>
            <a:r>
              <a:t>blend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2898648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06F80"/>
                </a:solidFill>
              </a:defRPr>
            </a:pPr>
            <a:r>
              <a:t>взвешенный ансамбль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04504" y="2724912"/>
            <a:ext cx="292608" cy="320040"/>
          </a:xfrm>
          <a:prstGeom prst="rightArrow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78240" y="2331720"/>
            <a:ext cx="1508760" cy="1097280"/>
          </a:xfrm>
          <a:prstGeom prst="roundRect">
            <a:avLst/>
          </a:prstGeom>
          <a:solidFill>
            <a:srgbClr val="F4F9F7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251460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239"/>
                </a:solidFill>
              </a:defRPr>
            </a:pPr>
            <a:r>
              <a:t>stacking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2898648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06F80"/>
                </a:solidFill>
              </a:defRPr>
            </a:pPr>
            <a:r>
              <a:t>Ridge stacking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268712" y="2724912"/>
            <a:ext cx="292608" cy="320040"/>
          </a:xfrm>
          <a:prstGeom prst="rightArrow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42447" y="2331720"/>
            <a:ext cx="1508760" cy="1097280"/>
          </a:xfrm>
          <a:prstGeom prst="roundRect">
            <a:avLst/>
          </a:prstGeom>
          <a:solidFill>
            <a:srgbClr val="EEF7FA"/>
          </a:solidFill>
          <a:ln>
            <a:solidFill>
              <a:srgbClr val="00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88167" y="251460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239"/>
                </a:solidFill>
              </a:defRPr>
            </a:pPr>
            <a:r>
              <a:t>submission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599" y="2898648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06F80"/>
                </a:solidFill>
              </a:defRPr>
            </a:pPr>
            <a:r>
              <a:t>постобработка 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5488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754880"/>
            <a:ext cx="73152" cy="1051560"/>
          </a:xfrm>
          <a:prstGeom prst="rect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91947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Базовые модели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285232"/>
            <a:ext cx="3154679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ExtraTrees, RandomForest, HistGradientBoosting, Ridge, CatBoost, LightGBM, XGBoost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75488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4754880"/>
            <a:ext cx="73152" cy="10515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27448" y="491947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Отдельно по 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5285232"/>
            <a:ext cx="3154679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Для IC50, CC50 и SI обучаются независимые модели из-за разных масштабов.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75488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754880"/>
            <a:ext cx="73152" cy="10515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8" y="491947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Финальная схема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8" y="5285232"/>
            <a:ext cx="3154679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Weighted blend + Ridge stacking + мягкая постобработка.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606F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B2239"/>
                </a:solidFill>
              </a:defRPr>
            </a:pPr>
            <a:r>
              <a:t>5. Stacking улучшает локальную метрику</a:t>
            </a:r>
          </a:p>
        </p:txBody>
      </p:sp>
      <p:pic>
        <p:nvPicPr>
          <p:cNvPr id="3" name="Picture 2" descr="stacking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669280" cy="3017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29400" y="1170432"/>
            <a:ext cx="4663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9400" y="1170432"/>
            <a:ext cx="73152" cy="1005840"/>
          </a:xfrm>
          <a:prstGeom prst="rect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335024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OOF-метрика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0568" y="170078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Взвешенный ансамбль: 531.84</a:t>
            </a:r>
            <a:br/>
            <a:r>
              <a:t>Ridge stacking: 513.89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450592"/>
            <a:ext cx="4663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2450592"/>
            <a:ext cx="73152" cy="100584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2615184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Самый сильный прирост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98094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CC50: RMSE снизился примерно на 30.7 пункта.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730752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3730752"/>
            <a:ext cx="73152" cy="1234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3895344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Почему работает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4261104"/>
            <a:ext cx="4343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Метамодель учится комбинировать предсказания разных алгоритмов по OOF-прогнозам.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789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0B2239"/>
                </a:solidFill>
              </a:defRPr>
            </a:pPr>
            <a:r>
              <a:t>Stacking — ключевой этап, который дал наибольший скачок качества после базового ансамбля.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606F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B2239"/>
                </a:solidFill>
              </a:defRPr>
            </a:pPr>
            <a:r>
              <a:t>6. Эксперименты и итоговый score</a:t>
            </a:r>
          </a:p>
        </p:txBody>
      </p:sp>
      <p:pic>
        <p:nvPicPr>
          <p:cNvPr id="3" name="Picture 2" descr="score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806440" cy="2971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12280" y="114300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3258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A7B8"/>
                </a:solidFill>
              </a:defRPr>
            </a:pPr>
            <a:r>
              <a:t>282.53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5432" y="1892807"/>
            <a:ext cx="19568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F80"/>
                </a:solidFill>
              </a:defRPr>
            </a:pPr>
            <a:r>
              <a:t>лучший public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14300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20" y="13258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BC9C"/>
                </a:solidFill>
              </a:defRPr>
            </a:pPr>
            <a:r>
              <a:t>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1892807"/>
            <a:ext cx="19568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F80"/>
                </a:solidFill>
              </a:defRPr>
            </a:pPr>
            <a:r>
              <a:t>лучший вес stacking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743200"/>
            <a:ext cx="4480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2743200"/>
            <a:ext cx="73152" cy="109728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2907792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Проверенные направления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3273552"/>
            <a:ext cx="4160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калибровка target, SI cap, tail clipping, удаление редких признаков, разные веса stacking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40690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4069080"/>
            <a:ext cx="73152" cy="1234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4233672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Что сработало лучше всего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4599432"/>
            <a:ext cx="4160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Увеличение веса Ridge stacking до 0.30. Жёсткое обрезание хвостов ухудшало результат.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606F80"/>
                </a:solidFill>
              </a:defRPr>
            </a:pPr>
            <a:r>
              <a:t>Финальный файл для отправки: submission_stack030_all.csv / submission.csv после фиксации конфигурации.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606F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B2239"/>
                </a:solidFill>
              </a:defRPr>
            </a:pPr>
            <a:r>
              <a:t>7. Воспроизводимость и материалы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" cy="1371600"/>
          </a:xfrm>
          <a:prstGeom prst="rect">
            <a:avLst/>
          </a:prstGeom>
          <a:solidFill>
            <a:srgbClr val="00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39903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Репозиторий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31546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README.md</a:t>
            </a:r>
            <a:br/>
            <a:r>
              <a:t>requirements.txt</a:t>
            </a:r>
            <a:br/>
            <a:r>
              <a:t>notebooks/hackathon_solution.ipynb</a:t>
            </a:r>
            <a:br/>
            <a:r>
              <a:t>submission/submission.csv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73152" cy="1371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39903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Запуск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1764792"/>
            <a:ext cx="31546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pip install -r requirements.txt</a:t>
            </a:r>
            <a:br/>
            <a:r>
              <a:t>Kernel → Restart &amp; Run All</a:t>
            </a:r>
            <a:br/>
            <a:r>
              <a:t>на выходе — submission.csv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234440"/>
            <a:ext cx="73152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39903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239"/>
                </a:solidFill>
              </a:defRPr>
            </a:pPr>
            <a:r>
              <a:t>Контроль качества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1764792"/>
            <a:ext cx="31546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0"/>
                </a:solidFill>
              </a:defRPr>
            </a:pPr>
            <a:r>
              <a:t>fixed random_state</a:t>
            </a:r>
            <a:br/>
            <a:r>
              <a:t>5-fold OOF</a:t>
            </a:r>
            <a:br/>
            <a:r>
              <a:t>нет внешних данных</a:t>
            </a:r>
            <a:br/>
            <a:r>
              <a:t>нет target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106070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0B2239"/>
                </a:solidFill>
              </a:defRPr>
            </a:pPr>
            <a:r>
              <a:t>Решение полностью воспроизводится из ноутбука: загрузка данных, обучение, ансамблирование, постобработка и сохранение итогового CSV.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98755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202730"/>
                </a:solidFill>
              </a:defRPr>
            </a:pPr>
            <a:r>
              <a:t>Ключевая идея: устойчивый ансамбль моделей + OOF-валидация + Ridge stacking вместо одной модели и ручной правки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606F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